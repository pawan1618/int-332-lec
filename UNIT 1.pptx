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67"/>
  </p:notesMasterIdLst>
  <p:sldIdLst>
    <p:sldId id="256" r:id="rId2"/>
    <p:sldId id="267" r:id="rId3"/>
    <p:sldId id="4095" r:id="rId4"/>
    <p:sldId id="4096" r:id="rId5"/>
    <p:sldId id="4097" r:id="rId6"/>
    <p:sldId id="4089" r:id="rId7"/>
    <p:sldId id="4091" r:id="rId8"/>
    <p:sldId id="4092" r:id="rId9"/>
    <p:sldId id="4101" r:id="rId10"/>
    <p:sldId id="4098" r:id="rId11"/>
    <p:sldId id="4102" r:id="rId12"/>
    <p:sldId id="269" r:id="rId13"/>
    <p:sldId id="262" r:id="rId14"/>
    <p:sldId id="263" r:id="rId15"/>
    <p:sldId id="264" r:id="rId16"/>
    <p:sldId id="4103" r:id="rId17"/>
    <p:sldId id="4104" r:id="rId18"/>
    <p:sldId id="4105" r:id="rId19"/>
    <p:sldId id="4117" r:id="rId20"/>
    <p:sldId id="272" r:id="rId21"/>
    <p:sldId id="4106" r:id="rId22"/>
    <p:sldId id="4107" r:id="rId23"/>
    <p:sldId id="4108" r:id="rId24"/>
    <p:sldId id="4109" r:id="rId25"/>
    <p:sldId id="4110" r:id="rId26"/>
    <p:sldId id="4111" r:id="rId27"/>
    <p:sldId id="4112" r:id="rId28"/>
    <p:sldId id="4113" r:id="rId29"/>
    <p:sldId id="4114" r:id="rId30"/>
    <p:sldId id="4124" r:id="rId31"/>
    <p:sldId id="4116" r:id="rId32"/>
    <p:sldId id="4118" r:id="rId33"/>
    <p:sldId id="4119" r:id="rId34"/>
    <p:sldId id="4120" r:id="rId35"/>
    <p:sldId id="4121" r:id="rId36"/>
    <p:sldId id="4129" r:id="rId37"/>
    <p:sldId id="4122" r:id="rId38"/>
    <p:sldId id="4123" r:id="rId39"/>
    <p:sldId id="4125" r:id="rId40"/>
    <p:sldId id="4126" r:id="rId41"/>
    <p:sldId id="4127" r:id="rId42"/>
    <p:sldId id="4128" r:id="rId43"/>
    <p:sldId id="4130" r:id="rId44"/>
    <p:sldId id="4131" r:id="rId45"/>
    <p:sldId id="4132" r:id="rId46"/>
    <p:sldId id="4133" r:id="rId47"/>
    <p:sldId id="4134" r:id="rId48"/>
    <p:sldId id="4135" r:id="rId49"/>
    <p:sldId id="4137" r:id="rId50"/>
    <p:sldId id="4138" r:id="rId51"/>
    <p:sldId id="257" r:id="rId52"/>
    <p:sldId id="258" r:id="rId53"/>
    <p:sldId id="4139" r:id="rId54"/>
    <p:sldId id="259" r:id="rId55"/>
    <p:sldId id="4140" r:id="rId56"/>
    <p:sldId id="4141" r:id="rId57"/>
    <p:sldId id="4142" r:id="rId58"/>
    <p:sldId id="4143" r:id="rId59"/>
    <p:sldId id="4144" r:id="rId60"/>
    <p:sldId id="4145" r:id="rId61"/>
    <p:sldId id="4146" r:id="rId62"/>
    <p:sldId id="4147" r:id="rId63"/>
    <p:sldId id="4148" r:id="rId64"/>
    <p:sldId id="4149" r:id="rId65"/>
    <p:sldId id="4150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206" autoAdjust="0"/>
  </p:normalViewPr>
  <p:slideViewPr>
    <p:cSldViewPr snapToGrid="0" snapToObjects="1">
      <p:cViewPr varScale="1">
        <p:scale>
          <a:sx n="67" d="100"/>
          <a:sy n="67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B4FAE-034A-43FA-ADA1-ED6599AA1D72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4C54-21E1-4F56-888E-0AAED4B47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91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house = One physical server</a:t>
            </a:r>
          </a:p>
          <a:p>
            <a:r>
              <a:rPr lang="en-US" dirty="0"/>
              <a:t>All resources (electricity, water, rooms) are shared</a:t>
            </a:r>
          </a:p>
          <a:p>
            <a:r>
              <a:rPr lang="en-US" dirty="0"/>
              <a:t>Only one family can comfortably live there</a:t>
            </a:r>
          </a:p>
          <a:p>
            <a:r>
              <a:rPr lang="en-US" dirty="0"/>
              <a:t>🔴 </a:t>
            </a:r>
            <a:r>
              <a:rPr lang="en-US" b="1" dirty="0"/>
              <a:t>Problem in IT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Running only one application per server wastes resources and increases cost.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4C54-21E1-4F56-888E-0AAED4B47DF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7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own walls</a:t>
            </a:r>
          </a:p>
          <a:p>
            <a:r>
              <a:rPr lang="en-US" dirty="0"/>
              <a:t>Separate rooms</a:t>
            </a:r>
          </a:p>
          <a:p>
            <a:r>
              <a:rPr lang="en-US" dirty="0"/>
              <a:t>Independent utilities</a:t>
            </a:r>
          </a:p>
          <a:p>
            <a:r>
              <a:rPr lang="en-US" b="1" dirty="0"/>
              <a:t>💻 Technical Meaning</a:t>
            </a:r>
          </a:p>
          <a:p>
            <a:r>
              <a:rPr lang="en-US" dirty="0"/>
              <a:t>In DevOps, </a:t>
            </a:r>
            <a:r>
              <a:rPr lang="en-US" b="1" dirty="0"/>
              <a:t>Virtualization</a:t>
            </a:r>
            <a:r>
              <a:rPr lang="en-US" dirty="0"/>
              <a:t> means:</a:t>
            </a:r>
          </a:p>
          <a:p>
            <a:r>
              <a:rPr lang="en-US" dirty="0"/>
              <a:t>One physical server runs </a:t>
            </a:r>
            <a:r>
              <a:rPr lang="en-US" b="1" dirty="0"/>
              <a:t>multiple Virtual Machines (VMs)</a:t>
            </a:r>
            <a:endParaRPr lang="en-US" dirty="0"/>
          </a:p>
          <a:p>
            <a:r>
              <a:rPr lang="en-US" dirty="0"/>
              <a:t>Each VM has:</a:t>
            </a:r>
          </a:p>
          <a:p>
            <a:pPr lvl="1"/>
            <a:r>
              <a:rPr lang="en-US" dirty="0"/>
              <a:t>Its own Operating System</a:t>
            </a:r>
          </a:p>
          <a:p>
            <a:pPr lvl="1"/>
            <a:r>
              <a:rPr lang="en-US" dirty="0"/>
              <a:t>Its own applications</a:t>
            </a:r>
          </a:p>
          <a:p>
            <a:r>
              <a:rPr lang="en-US" dirty="0"/>
              <a:t>A </a:t>
            </a:r>
            <a:r>
              <a:rPr lang="en-US" b="1" dirty="0"/>
              <a:t>Hypervisor</a:t>
            </a:r>
            <a:r>
              <a:rPr lang="en-US" dirty="0"/>
              <a:t> manages all VMs</a:t>
            </a:r>
          </a:p>
          <a:p>
            <a:r>
              <a:rPr lang="en-US" b="1" dirty="0"/>
              <a:t>✅ Advantages</a:t>
            </a:r>
          </a:p>
          <a:p>
            <a:r>
              <a:rPr lang="en-US" dirty="0"/>
              <a:t>Strong isolation</a:t>
            </a:r>
          </a:p>
          <a:p>
            <a:r>
              <a:rPr lang="en-US" dirty="0"/>
              <a:t>Can run different OS (Linux, Windows)</a:t>
            </a:r>
          </a:p>
          <a:p>
            <a:r>
              <a:rPr lang="en-US" dirty="0"/>
              <a:t>Better hardware utilization than single server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4C54-21E1-4F56-888E-0AAED4B47DF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26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31126"/>
            <a:ext cx="7773120" cy="14687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944"/>
            <a:ext cx="6400800" cy="1752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pPr/>
              <a:t>3/19/2026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247"/>
            <a:ext cx="7771680" cy="1363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778"/>
            <a:ext cx="7771680" cy="14994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881" y="1631943"/>
            <a:ext cx="409248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7601" y="1631943"/>
            <a:ext cx="409248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4551"/>
            <a:ext cx="8229600" cy="114235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946"/>
            <a:ext cx="403920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5285"/>
            <a:ext cx="403920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946"/>
            <a:ext cx="404208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5285"/>
            <a:ext cx="404208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2630"/>
            <a:ext cx="3008160" cy="116156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2630"/>
            <a:ext cx="5112000" cy="585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190"/>
            <a:ext cx="3008160" cy="46923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799832"/>
            <a:ext cx="5486400" cy="5683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459"/>
            <a:ext cx="5486400" cy="4114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8133"/>
            <a:ext cx="5486400" cy="804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681" y="326389"/>
            <a:ext cx="2121120" cy="55447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6880" y="326389"/>
            <a:ext cx="6226560" cy="55447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880" y="2613029"/>
            <a:ext cx="8323200" cy="8658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ChangeArrowheads="1"/>
          </p:cNvSpPr>
          <p:nvPr/>
        </p:nvSpPr>
        <p:spPr bwMode="auto">
          <a:xfrm>
            <a:off x="1" y="216953"/>
            <a:ext cx="8817120" cy="1088601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6857281" y="6203304"/>
            <a:ext cx="228528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816481" y="6203304"/>
            <a:ext cx="5878080" cy="489582"/>
          </a:xfrm>
          <a:prstGeom prst="rect">
            <a:avLst/>
          </a:prstGeom>
          <a:solidFill>
            <a:srgbClr val="B2B2B2"/>
          </a:solidFill>
          <a:ln w="936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162720" y="6203304"/>
            <a:ext cx="489600" cy="4895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26881" y="326389"/>
            <a:ext cx="8485920" cy="8658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6880" y="1631943"/>
            <a:ext cx="8323200" cy="42392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162720" y="6203304"/>
            <a:ext cx="48960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-162720" y="6203304"/>
            <a:ext cx="113904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816480" y="6203304"/>
            <a:ext cx="587376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/>
          </p:nvPr>
        </p:nvSpPr>
        <p:spPr bwMode="auto">
          <a:xfrm>
            <a:off x="6857281" y="6203303"/>
            <a:ext cx="2118240" cy="4684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6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050240" y="216953"/>
            <a:ext cx="1787040" cy="112508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2pPr>
      <a:lvl3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3pPr>
      <a:lvl4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4pPr>
      <a:lvl5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9pPr>
    </p:titleStyle>
    <p:bodyStyle>
      <a:lvl1pPr marL="342900" indent="-342900" algn="l" defTabSz="457200" rtl="0" eaLnBrk="1" fontAlgn="base" hangingPunct="1">
        <a:lnSpc>
          <a:spcPct val="104000"/>
        </a:lnSpc>
        <a:spcBef>
          <a:spcPct val="0"/>
        </a:spcBef>
        <a:spcAft>
          <a:spcPts val="863"/>
        </a:spcAft>
        <a:buClr>
          <a:srgbClr val="000000"/>
        </a:buClr>
        <a:buSzPct val="100000"/>
        <a:buFont typeface="Times New Roman" pitchFamily="18" charset="0"/>
        <a:buChar char="•"/>
        <a:defRPr sz="2000" b="1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lnSpc>
          <a:spcPct val="10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8" charset="0"/>
        <a:buChar char="–"/>
        <a:defRPr sz="1700">
          <a:solidFill>
            <a:srgbClr val="1C1C1C"/>
          </a:solidFill>
          <a:latin typeface="Source Sans Pro Light" pitchFamily="32" charset="0"/>
          <a:cs typeface="+mn-cs"/>
        </a:defRPr>
      </a:lvl2pPr>
      <a:lvl3pPr marL="1143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itchFamily="18" charset="0"/>
        <a:buChar char="•"/>
        <a:defRPr sz="1400">
          <a:solidFill>
            <a:srgbClr val="1C1C1C"/>
          </a:solidFill>
          <a:latin typeface="Source Sans Pro Light" pitchFamily="32" charset="0"/>
          <a:cs typeface="+mn-cs"/>
        </a:defRPr>
      </a:lvl3pPr>
      <a:lvl4pPr marL="1600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425"/>
        </a:spcAft>
        <a:buClr>
          <a:srgbClr val="000000"/>
        </a:buClr>
        <a:buSzPct val="100000"/>
        <a:buFont typeface="Times New Roman" pitchFamily="18" charset="0"/>
        <a:buChar char="–"/>
        <a:defRPr sz="1200">
          <a:solidFill>
            <a:srgbClr val="1C1C1C"/>
          </a:solidFill>
          <a:latin typeface="Source Sans Pro Light" pitchFamily="32" charset="0"/>
          <a:cs typeface="+mn-cs"/>
        </a:defRPr>
      </a:lvl4pPr>
      <a:lvl5pPr marL="20574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8" charset="0"/>
        <a:buChar char="»"/>
        <a:defRPr sz="1200">
          <a:solidFill>
            <a:srgbClr val="1C1C1C"/>
          </a:solidFill>
          <a:latin typeface="Source Sans Pro Light" pitchFamily="32" charset="0"/>
          <a:cs typeface="+mn-cs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149"/>
            <a:ext cx="7772400" cy="1223157"/>
          </a:xfrm>
        </p:spPr>
        <p:txBody>
          <a:bodyPr/>
          <a:lstStyle/>
          <a:p>
            <a:r>
              <a:t>Introduction to Docker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507" y="1651912"/>
            <a:ext cx="7506586" cy="405777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Lecture 1 (INT 332) BASICS OF DEVOPS</a:t>
            </a:r>
          </a:p>
          <a:p>
            <a:r>
              <a:rPr dirty="0"/>
              <a:t>Revolutionizing Containerization</a:t>
            </a:r>
          </a:p>
          <a:p>
            <a:endParaRPr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32A7-BD51-463E-4BCA-F41CCE42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Devops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3FFF2-E9B2-657F-0D9A-362F541F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75"/>
          <a:stretch/>
        </p:blipFill>
        <p:spPr>
          <a:xfrm>
            <a:off x="482600" y="1685780"/>
            <a:ext cx="8178799" cy="40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9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FF4A-0689-7A62-DA3E-1F584988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concepts of </a:t>
            </a:r>
            <a:r>
              <a:rPr lang="en-US" dirty="0" err="1"/>
              <a:t>Virtulization</a:t>
            </a:r>
            <a:r>
              <a:rPr lang="en-US" dirty="0"/>
              <a:t> and Containerization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00F96-DD64-F6F7-24FF-696BDC8A0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020726" y="1631950"/>
            <a:ext cx="6794203" cy="4238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928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3A2AA7-49A2-947F-61C4-257F67BD4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85" y="1636638"/>
            <a:ext cx="60102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8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8B857-1E1C-49AD-4CEC-A234A1E59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3916" y="1631950"/>
            <a:ext cx="8293395" cy="4238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333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C844-C64D-D12E-0962-004212C2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85211"/>
            <a:ext cx="7886700" cy="640055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 and containerization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5C6F-2D02-A862-62C7-EDE5C4712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5740" indent="-205740" algn="just">
              <a:buFont typeface="Wingdings 2"/>
              <a:buChar char="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changing times, businesses started looking for solutions to reduce overhead costs, enhance scalability, and standardize application deployment process. </a:t>
            </a:r>
          </a:p>
          <a:p>
            <a:pPr marL="205740" indent="-205740" algn="just">
              <a:buFont typeface="Wingdings 2"/>
              <a:buChar char=""/>
              <a:defRPr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205740" algn="just">
              <a:buFont typeface="Wingdings 2"/>
              <a:buChar char="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started considering the following two approaches to reduce costs −</a:t>
            </a:r>
          </a:p>
          <a:p>
            <a:pPr marL="385763" indent="-385763" algn="just">
              <a:buFont typeface="Wingdings 2"/>
              <a:buAutoNum type="arabicPeriod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 marL="385763" indent="-385763" algn="just">
              <a:buFont typeface="Wingdings 2"/>
              <a:buAutoNum type="arabicPeriod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ABC10-47F3-D4AB-28AD-8BF7798ECC05}"/>
              </a:ext>
            </a:extLst>
          </p:cNvPr>
          <p:cNvSpPr txBox="1"/>
          <p:nvPr/>
        </p:nvSpPr>
        <p:spPr>
          <a:xfrm>
            <a:off x="628650" y="400002"/>
            <a:ext cx="410283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9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5359-2996-7398-B76C-5B246115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78" y="400466"/>
            <a:ext cx="7886700" cy="757238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Virtualization?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BFD2-5652-4A17-42D6-64768850E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77" y="1562986"/>
            <a:ext cx="8696103" cy="4380614"/>
          </a:xfrm>
        </p:spPr>
        <p:txBody>
          <a:bodyPr>
            <a:normAutofit/>
          </a:bodyPr>
          <a:lstStyle/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Virtualization is the process of </a:t>
            </a:r>
            <a:r>
              <a:rPr lang="en-US" altLang="en-US" dirty="0">
                <a:solidFill>
                  <a:srgbClr val="FF0000"/>
                </a:solidFill>
              </a:rPr>
              <a:t>partitioning</a:t>
            </a:r>
            <a:r>
              <a:rPr lang="en-US" altLang="en-US" dirty="0"/>
              <a:t> a physical server into multiple virtual servers.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 The process of partitioning is carried out using a software called </a:t>
            </a:r>
            <a:r>
              <a:rPr lang="en-US" altLang="en-US" dirty="0">
                <a:solidFill>
                  <a:srgbClr val="FF0000"/>
                </a:solidFill>
              </a:rPr>
              <a:t>'hypervisor'</a:t>
            </a:r>
            <a:r>
              <a:rPr lang="en-US" altLang="en-US" dirty="0"/>
              <a:t>.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 After partitioning, the virtual servers act and perform just as a physical server. 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Essentially, it means </a:t>
            </a:r>
            <a:r>
              <a:rPr lang="en-US" altLang="en-US" dirty="0">
                <a:solidFill>
                  <a:srgbClr val="FF0000"/>
                </a:solidFill>
              </a:rPr>
              <a:t>using the same hardware </a:t>
            </a:r>
            <a:r>
              <a:rPr lang="en-US" altLang="en-US" dirty="0"/>
              <a:t>set-up more efficiently, thereby freeing the resources for other tasks or retiring the resources altogether.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05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077F7-57B9-FD87-D8D8-9A1E113D5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371601"/>
            <a:ext cx="8323200" cy="4177248"/>
          </a:xfrm>
        </p:spPr>
        <p:txBody>
          <a:bodyPr>
            <a:normAutofit/>
          </a:bodyPr>
          <a:lstStyle/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performance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agile IT infrastructure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use of resources in optimum manner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disaster management if any physical hazards take place to resources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as the infected VM can be isolated from other VMs and the host server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saving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capital investment cost on hardware is saved, and thereby maintenance cost is saved, hence overall cost savings for a business.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562F9-C8A7-43E7-9478-C344C139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643A6A-284B-1E0C-2A50-166941FD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Virtualization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40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710D0-832A-4533-857C-959C6E4B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Virtualization which lead to concept of containerization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40F9-36DB-B715-7670-9597783CD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631943"/>
            <a:ext cx="8323200" cy="436482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dirty="0"/>
              <a:t>Heavy Resource Overhead</a:t>
            </a:r>
          </a:p>
          <a:p>
            <a:pPr marL="457200" indent="-457200">
              <a:buAutoNum type="arabicPeriod"/>
            </a:pPr>
            <a:r>
              <a:rPr lang="en-US" dirty="0"/>
              <a:t>Slow Boot Time and Poor Agility</a:t>
            </a:r>
          </a:p>
          <a:p>
            <a:pPr marL="457200" indent="-457200">
              <a:buAutoNum type="arabicPeriod"/>
            </a:pPr>
            <a:r>
              <a:rPr lang="en-IN" dirty="0"/>
              <a:t>Inefficient Scalability</a:t>
            </a:r>
          </a:p>
          <a:p>
            <a:pPr marL="457200" indent="-457200">
              <a:buAutoNum type="arabicPeriod"/>
            </a:pPr>
            <a:r>
              <a:rPr lang="en-IN" dirty="0"/>
              <a:t>Limited Application Portability</a:t>
            </a:r>
          </a:p>
          <a:p>
            <a:pPr marL="457200" indent="-457200">
              <a:buAutoNum type="arabicPeriod"/>
            </a:pPr>
            <a:r>
              <a:rPr lang="en-US" dirty="0"/>
              <a:t>Higher Management and Maintenance Complexity</a:t>
            </a:r>
          </a:p>
          <a:p>
            <a:pPr marL="457200" indent="-457200">
              <a:buAutoNum type="arabicPeriod"/>
            </a:pPr>
            <a:r>
              <a:rPr lang="en-IN" dirty="0"/>
              <a:t>Increased Infrastructure Cost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These drawbacks directly led to the evolution of containerization, which offers lightweight isolation, faster deployment, better portability, and seamless integration with DevOps and microservices architectures.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4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1BAF31-A31D-E65A-582E-38566BE1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73890" y="1318437"/>
            <a:ext cx="6464594" cy="44564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3235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00ED4-955F-9BAD-2B7C-0DB3475B4F60}"/>
              </a:ext>
            </a:extLst>
          </p:cNvPr>
          <p:cNvSpPr txBox="1"/>
          <p:nvPr/>
        </p:nvSpPr>
        <p:spPr>
          <a:xfrm>
            <a:off x="0" y="1277311"/>
            <a:ext cx="880375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Containers don’t carry an entire operating system. They use bare minimum OS.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share the host OS and only bring what the application needs.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start in seconds. They consume minimal resources.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can run dozens — even hundreds — on the same machine.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Earlier the applications were monolithic , so physical servers were apt,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later there were components split like backend, frontend, </a:t>
            </a:r>
            <a:r>
              <a:rPr lang="en-US" dirty="0" err="1"/>
              <a:t>db</a:t>
            </a:r>
            <a:r>
              <a:rPr lang="en-US" dirty="0"/>
              <a:t> ,so VM’s took care of hosting.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Now all the applications are turning to microservices, so the containerization tools like docker will serve the purpose.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Also the portability problem is also solved using the containerization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65126-1E67-9A2E-AAC6-C261E46B1ED6}"/>
              </a:ext>
            </a:extLst>
          </p:cNvPr>
          <p:cNvSpPr txBox="1"/>
          <p:nvPr/>
        </p:nvSpPr>
        <p:spPr>
          <a:xfrm>
            <a:off x="276447" y="350875"/>
            <a:ext cx="622004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That’s exactly what containers do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3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002F-988E-E532-C7DA-5965A552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containers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7B2C07-727B-B8D4-D97D-B727F49D3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989" y="1600200"/>
            <a:ext cx="806802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40AA-51F2-2623-D679-A6AA3FB5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C8B4-CA40-4777-5AC8-FDC06AA0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runtime is the software responsible for creating, starting, stopping, and managing containers on a host system. </a:t>
            </a:r>
          </a:p>
          <a:p>
            <a:endParaRPr lang="en-US" dirty="0"/>
          </a:p>
          <a:p>
            <a:r>
              <a:rPr lang="en-US" dirty="0"/>
              <a:t>It acts as the execution engine that turns a container image into a running container.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simple words:</a:t>
            </a:r>
          </a:p>
          <a:p>
            <a:pPr marL="0" indent="0">
              <a:buNone/>
            </a:pPr>
            <a:r>
              <a:rPr lang="en-US" i="1" dirty="0"/>
              <a:t>“Container runtime is what actually runs containers.”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91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1089E-5804-C86D-B21E-25BE302F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Container Runtime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A31CC-98CA-4376-CF61-AB747502D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image is just a read-only package (application + dependencies).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To run it, the system needs a runtime to:</a:t>
            </a:r>
          </a:p>
          <a:p>
            <a:r>
              <a:rPr lang="en-US" dirty="0"/>
              <a:t>Create an isolated environment</a:t>
            </a:r>
          </a:p>
          <a:p>
            <a:r>
              <a:rPr lang="en-US" dirty="0"/>
              <a:t>Apply resource limits</a:t>
            </a:r>
          </a:p>
          <a:p>
            <a:r>
              <a:rPr lang="en-US" dirty="0"/>
              <a:t>Start the application process</a:t>
            </a:r>
          </a:p>
          <a:p>
            <a:r>
              <a:rPr lang="en-US" dirty="0"/>
              <a:t>Monitor and stop it when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49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0E08-F16D-F53C-2EA5-7BF7BB5D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Container Runtimes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6267-2DED-4F29-E245-B52F80E0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0" dirty="0"/>
              <a:t>1. High-Level Runtimes</a:t>
            </a:r>
          </a:p>
          <a:p>
            <a:pPr marL="0" indent="0">
              <a:buNone/>
            </a:pPr>
            <a:r>
              <a:rPr lang="en-US" dirty="0"/>
              <a:t>Used by users and DevOps tools.</a:t>
            </a:r>
          </a:p>
          <a:p>
            <a:pPr marL="0" indent="0">
              <a:buNone/>
            </a:pPr>
            <a:r>
              <a:rPr lang="en-US" dirty="0"/>
              <a:t>Docker Engine</a:t>
            </a:r>
          </a:p>
          <a:p>
            <a:pPr marL="0" indent="0">
              <a:buNone/>
            </a:pPr>
            <a:r>
              <a:rPr lang="en-US" dirty="0" err="1"/>
              <a:t>containerd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CRI-O (Kubernetes-focused)</a:t>
            </a:r>
          </a:p>
          <a:p>
            <a:pPr marL="0" indent="0">
              <a:buNone/>
            </a:pPr>
            <a:r>
              <a:rPr lang="en-US" dirty="0"/>
              <a:t>            These handle:</a:t>
            </a:r>
          </a:p>
          <a:p>
            <a:r>
              <a:rPr lang="en-US" dirty="0"/>
              <a:t>Image pulling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Storage</a:t>
            </a:r>
          </a:p>
          <a:p>
            <a:r>
              <a:rPr lang="en-US" dirty="0"/>
              <a:t>Container lifecycle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347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BD76-DAFC-9034-2154-D7B88BFD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4B5A-FB6F-A0A6-901F-3B639E1E5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2. Low-Level Runtimes</a:t>
            </a:r>
          </a:p>
          <a:p>
            <a:r>
              <a:rPr lang="en-US" dirty="0"/>
              <a:t>Responsible for actually running the container process.</a:t>
            </a:r>
          </a:p>
          <a:p>
            <a:r>
              <a:rPr lang="en-US" dirty="0" err="1"/>
              <a:t>runc</a:t>
            </a:r>
            <a:r>
              <a:rPr lang="en-US" dirty="0"/>
              <a:t> (OCI-compliant)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directly interact with:</a:t>
            </a:r>
          </a:p>
          <a:p>
            <a:r>
              <a:rPr lang="en-US" dirty="0"/>
              <a:t>Linux kernel</a:t>
            </a:r>
          </a:p>
          <a:p>
            <a:r>
              <a:rPr lang="en-US" dirty="0"/>
              <a:t>Namespaces</a:t>
            </a:r>
          </a:p>
          <a:p>
            <a:r>
              <a:rPr lang="en-US" dirty="0" err="1"/>
              <a:t>cgroups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64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709A-38D9-0699-23F7-4A7F47C1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D0E98-37FC-1172-961B-CDD83956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41" y="1616149"/>
            <a:ext cx="8323200" cy="328546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Real-World Analogy</a:t>
            </a:r>
          </a:p>
          <a:p>
            <a:r>
              <a:rPr lang="en-US" sz="2800" dirty="0"/>
              <a:t>Container Image → Packed lunch box</a:t>
            </a:r>
          </a:p>
          <a:p>
            <a:r>
              <a:rPr lang="en-US" sz="2800" dirty="0"/>
              <a:t>Container Runtime → Person who opens it, serves food, and cleans up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782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9FAD-7368-BA86-ABE0-D2090A99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Isolation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EB66-201F-94FA-469B-FCAF13A3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isolation ensures that each container runs as if it is alone on the system, even though multiple containers share the same OS kernel.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isolation is achieved using Linux namespaces.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4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F133-5F09-0B0D-8AF1-49C88AA9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19AAD-683D-BD9D-CF57-E2C5070F1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0EEE8-DDF0-9AAD-804C-FCDC423C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4384"/>
            <a:ext cx="8622970" cy="590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58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35EA-296A-035B-AB67-E7C4BD1A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8C9D-B285-27D1-0F2C-614DA664E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b="0" i="0" u="none" strike="noStrike" dirty="0">
                <a:solidFill>
                  <a:srgbClr val="374151"/>
                </a:solidFill>
                <a:effectLst/>
                <a:latin typeface="Inter"/>
              </a:rPr>
              <a:t>As shown is this little cat picture, containers are isolated but using networking they still </a:t>
            </a:r>
            <a:r>
              <a:rPr lang="en-IN" sz="4000" b="1" i="0" u="none" strike="noStrike" dirty="0">
                <a:solidFill>
                  <a:srgbClr val="374151"/>
                </a:solidFill>
                <a:effectLst/>
                <a:latin typeface="Inter"/>
              </a:rPr>
              <a:t>discover </a:t>
            </a:r>
            <a:r>
              <a:rPr lang="en-IN" sz="4000" b="0" i="0" u="none" strike="noStrike" dirty="0">
                <a:solidFill>
                  <a:srgbClr val="374151"/>
                </a:solidFill>
                <a:effectLst/>
                <a:latin typeface="Inter"/>
              </a:rPr>
              <a:t>each other and consume the services if needed</a:t>
            </a:r>
            <a:r>
              <a:rPr lang="en-IN" b="0" i="0" u="none" strike="noStrike" dirty="0">
                <a:solidFill>
                  <a:srgbClr val="374151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245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9FDB-0CF8-4A89-270E-49F8B65E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AFE5-DB5B-E4C5-D2EC-898B98DD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Namespaces are Linux kernel features that partition system resources so that processes see only what belongs to them.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“Namespaces create the illusion of a separate system for each container.”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430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8F8D-183B-3F93-F933-429E4C92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Namespaces Used in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840C-93D3-54B0-306A-A25747653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358154"/>
            <a:ext cx="8323200" cy="488128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800" dirty="0"/>
              <a:t>PID Namespace (Process Isolation)</a:t>
            </a:r>
            <a:endParaRPr lang="en-US" dirty="0"/>
          </a:p>
          <a:p>
            <a:r>
              <a:rPr lang="en-US" dirty="0"/>
              <a:t>Each container has its own process tree</a:t>
            </a:r>
          </a:p>
          <a:p>
            <a:r>
              <a:rPr lang="en-US" dirty="0"/>
              <a:t>Process IDs inside container start from 1</a:t>
            </a:r>
          </a:p>
          <a:p>
            <a:r>
              <a:rPr lang="en-US" dirty="0"/>
              <a:t>A container cannot see host or other container processes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Scenario: Web Application Container</a:t>
            </a:r>
          </a:p>
          <a:p>
            <a:pPr marL="0" indent="0">
              <a:buNone/>
            </a:pPr>
            <a:r>
              <a:rPr lang="en-IN" dirty="0"/>
              <a:t>Suppose you run a Python-based web service inside a container.</a:t>
            </a:r>
          </a:p>
          <a:p>
            <a:pPr marL="0" indent="0">
              <a:buNone/>
            </a:pPr>
            <a:r>
              <a:rPr lang="en-IN" dirty="0"/>
              <a:t>App (PID 1)          → main application (web server)</a:t>
            </a:r>
          </a:p>
          <a:p>
            <a:pPr marL="0" indent="0">
              <a:buNone/>
            </a:pPr>
            <a:r>
              <a:rPr lang="en-IN" dirty="0"/>
              <a:t> ├── worker-1        → handles client requests</a:t>
            </a:r>
          </a:p>
          <a:p>
            <a:pPr marL="0" indent="0">
              <a:buNone/>
            </a:pPr>
            <a:r>
              <a:rPr lang="en-IN" dirty="0"/>
              <a:t>├── worker-2        → handles client requests</a:t>
            </a:r>
          </a:p>
          <a:p>
            <a:pPr marL="0" indent="0">
              <a:buNone/>
            </a:pPr>
            <a:r>
              <a:rPr lang="en-IN" dirty="0"/>
              <a:t>└── logger          → writes logs to files/</a:t>
            </a:r>
            <a:r>
              <a:rPr lang="en-IN" dirty="0" err="1"/>
              <a:t>stdout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120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BE9F-766A-C138-D79D-FE4BFA0C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Network Namespace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926F6-4DD0-2F5A-9323-B55E383B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24762"/>
            <a:ext cx="8323200" cy="5312213"/>
          </a:xfrm>
        </p:spPr>
        <p:txBody>
          <a:bodyPr/>
          <a:lstStyle/>
          <a:p>
            <a:r>
              <a:rPr lang="en-US" sz="2400" dirty="0"/>
              <a:t>Each container gets:</a:t>
            </a:r>
          </a:p>
          <a:p>
            <a:pPr lvl="1"/>
            <a:r>
              <a:rPr lang="en-US" sz="2400" dirty="0"/>
              <a:t>Its own IP address</a:t>
            </a:r>
          </a:p>
          <a:p>
            <a:pPr lvl="1"/>
            <a:r>
              <a:rPr lang="en-US" sz="2400" dirty="0"/>
              <a:t>Its own ports</a:t>
            </a:r>
          </a:p>
          <a:p>
            <a:r>
              <a:rPr lang="en-US" sz="2400" dirty="0"/>
              <a:t>Containers can run apps on the same port without conflict</a:t>
            </a:r>
          </a:p>
          <a:p>
            <a:pPr marL="0" indent="0">
              <a:buNone/>
            </a:pPr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Multiple Nginx containers all listen on port 80 internally.</a:t>
            </a:r>
          </a:p>
          <a:p>
            <a:pPr marL="0" indent="0">
              <a:buNone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1: 172.17.0.2:80  → Nginx</a:t>
            </a:r>
          </a:p>
          <a:p>
            <a:pPr marL="0" indent="0">
              <a:buNone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2: 172.17.0.3:80  → Nginx</a:t>
            </a:r>
          </a:p>
          <a:p>
            <a:pPr marL="0" indent="0">
              <a:buNone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3: 172.17.0.4:80  → Nginx</a:t>
            </a:r>
          </a:p>
          <a:p>
            <a:pPr marL="0" indent="0">
              <a:buNone/>
            </a:pP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35119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0B36-3436-5D3B-E1DD-1BD9DF4D0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1" y="1309393"/>
            <a:ext cx="8323200" cy="485749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3. Mount Namespace</a:t>
            </a:r>
          </a:p>
          <a:p>
            <a:r>
              <a:rPr lang="en-US" dirty="0"/>
              <a:t>Each container has its own filesystem view</a:t>
            </a:r>
          </a:p>
          <a:p>
            <a:r>
              <a:rPr lang="en-US" dirty="0"/>
              <a:t>File changes inside container do not affect host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4. UTS Namespace</a:t>
            </a:r>
          </a:p>
          <a:p>
            <a:r>
              <a:rPr lang="en-US" dirty="0"/>
              <a:t>Allows each container to have its own hostname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400" dirty="0"/>
              <a:t>5. User Namespace (Advanced)</a:t>
            </a:r>
          </a:p>
          <a:p>
            <a:r>
              <a:rPr lang="en-US" dirty="0"/>
              <a:t>Maps container users to non-root users on host</a:t>
            </a:r>
          </a:p>
          <a:p>
            <a:r>
              <a:rPr lang="en-US" dirty="0"/>
              <a:t>Improves security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397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77A2-C215-B6D5-6BF6-2FB29AD8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Analogy behind Namespaces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9FB8-2BEE-50BD-CD5F-976D25DD7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Namespaces are like separate cabins in a train:</a:t>
            </a:r>
          </a:p>
          <a:p>
            <a:r>
              <a:rPr lang="en-US" sz="2800" dirty="0"/>
              <a:t>Same engine (kernel)</a:t>
            </a:r>
          </a:p>
          <a:p>
            <a:r>
              <a:rPr lang="en-US" sz="2800" dirty="0"/>
              <a:t>Different passengers</a:t>
            </a:r>
          </a:p>
          <a:p>
            <a:r>
              <a:rPr lang="en-US" sz="2800" dirty="0"/>
              <a:t>No visibility between cabins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496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5613-301F-5291-48AB-0F899F68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Groups (</a:t>
            </a:r>
            <a:r>
              <a:rPr lang="en-IN" dirty="0" err="1"/>
              <a:t>cgroups</a:t>
            </a:r>
            <a:r>
              <a:rPr lang="en-IN" dirty="0"/>
              <a:t>) for Resource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931C-49F9-38C0-7EEC-C9C15A74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Control Groups (</a:t>
            </a:r>
            <a:r>
              <a:rPr lang="en-US" dirty="0" err="1"/>
              <a:t>cgroups</a:t>
            </a:r>
            <a:r>
              <a:rPr lang="en-US" dirty="0"/>
              <a:t>) are Linux kernel features that limit, control, and monitor resource usage of processes.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ensure that:</a:t>
            </a:r>
          </a:p>
          <a:p>
            <a:r>
              <a:rPr lang="en-US" dirty="0"/>
              <a:t>No container can monopolize system resources</a:t>
            </a:r>
          </a:p>
          <a:p>
            <a:r>
              <a:rPr lang="en-US" dirty="0"/>
              <a:t>Fair sharing of CPU, memory, and I/O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        </a:t>
            </a:r>
            <a:r>
              <a:rPr lang="en-US" sz="3200" i="1" dirty="0">
                <a:solidFill>
                  <a:srgbClr val="FF0000"/>
                </a:solidFill>
              </a:rPr>
              <a:t>“Namespaces isolate, </a:t>
            </a:r>
            <a:r>
              <a:rPr lang="en-US" sz="3200" i="1" dirty="0" err="1">
                <a:solidFill>
                  <a:srgbClr val="FF0000"/>
                </a:solidFill>
              </a:rPr>
              <a:t>cgroups</a:t>
            </a:r>
            <a:r>
              <a:rPr lang="en-US" sz="3200" i="1" dirty="0">
                <a:solidFill>
                  <a:srgbClr val="FF0000"/>
                </a:solidFill>
              </a:rPr>
              <a:t> control.”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879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539E-15AD-282A-9965-013E6C3B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</a:t>
            </a:r>
            <a:r>
              <a:rPr lang="en-US" dirty="0" err="1"/>
              <a:t>cgroups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EB92-0C3E-396B-ECF8-95A42B6EA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Without </a:t>
            </a:r>
            <a:r>
              <a:rPr lang="en-US" dirty="0" err="1"/>
              <a:t>cgroups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One container could consume all CPU or RAM</a:t>
            </a:r>
          </a:p>
          <a:p>
            <a:r>
              <a:rPr lang="en-US" dirty="0"/>
              <a:t>Host and other containers could crash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973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C9E8-625E-7A58-1406-67C0E7D7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IN" dirty="0"/>
              <a:t>Resources Controlled by </a:t>
            </a:r>
            <a:r>
              <a:rPr lang="en-IN" dirty="0" err="1"/>
              <a:t>cgroups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CA7B-0B9E-FE49-D2D7-921FDD4D1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1.CPU</a:t>
            </a:r>
          </a:p>
          <a:p>
            <a:r>
              <a:rPr lang="en-US" dirty="0"/>
              <a:t>Limit CPU usage</a:t>
            </a:r>
          </a:p>
          <a:p>
            <a:r>
              <a:rPr lang="en-US" dirty="0"/>
              <a:t>Assign CPU shares</a:t>
            </a:r>
          </a:p>
          <a:p>
            <a:pPr marL="0" indent="0">
              <a:buNone/>
            </a:pPr>
            <a:r>
              <a:rPr lang="en-US" dirty="0"/>
              <a:t>2. Memory</a:t>
            </a:r>
          </a:p>
          <a:p>
            <a:r>
              <a:rPr lang="en-US" dirty="0"/>
              <a:t>Set maximum memory usage</a:t>
            </a:r>
          </a:p>
          <a:p>
            <a:r>
              <a:rPr lang="en-US" dirty="0"/>
              <a:t>Kill container if limit exceeded</a:t>
            </a:r>
          </a:p>
          <a:p>
            <a:pPr marL="0" indent="0">
              <a:buNone/>
            </a:pPr>
            <a:r>
              <a:rPr lang="en-US" dirty="0"/>
              <a:t>3. Disk I/O</a:t>
            </a:r>
          </a:p>
          <a:p>
            <a:r>
              <a:rPr lang="en-US" dirty="0"/>
              <a:t>Limit read/write speeds</a:t>
            </a:r>
          </a:p>
          <a:p>
            <a:pPr marL="0" indent="0">
              <a:buNone/>
            </a:pPr>
            <a:r>
              <a:rPr lang="en-US" dirty="0"/>
              <a:t>4. Network (Indirectly)</a:t>
            </a:r>
          </a:p>
          <a:p>
            <a:r>
              <a:rPr lang="en-US" dirty="0"/>
              <a:t>Through traffic shaping mechanisms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672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E03E-C63B-0D6F-91B1-A0403804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Analogy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E3F3-3A92-B672-D403-2F8C8C02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57" y="1419292"/>
            <a:ext cx="8732060" cy="423921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/>
              <a:t>cgroups</a:t>
            </a:r>
            <a:r>
              <a:rPr lang="en-US" sz="3200" dirty="0"/>
              <a:t> are like electricity meters in apartments:</a:t>
            </a:r>
          </a:p>
          <a:p>
            <a:r>
              <a:rPr lang="en-US" sz="3200" dirty="0"/>
              <a:t>Each flat has a limit</a:t>
            </a:r>
          </a:p>
          <a:p>
            <a:r>
              <a:rPr lang="en-US" sz="3200" dirty="0"/>
              <a:t>One tenant cannot use all power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936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F8A0C8-0F99-38DA-C39F-165F152F0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2" y="1365813"/>
            <a:ext cx="8069406" cy="463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72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0C8B-B006-0573-1FB4-59240699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Task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8205-E420-B20E-5314-BBA0E6C97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93" y="1631943"/>
            <a:ext cx="8323200" cy="4239212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Task 1: A company uses containers for microservices. One faulty container crashes the host due to high memory usage.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dirty="0"/>
              <a:t>Which container feature was misconfigured or missing?</a:t>
            </a:r>
          </a:p>
          <a:p>
            <a:r>
              <a:rPr lang="en-US" dirty="0"/>
              <a:t>Which kernel mechanism should have prevented this?</a:t>
            </a:r>
          </a:p>
          <a:p>
            <a:r>
              <a:rPr lang="en-US" dirty="0"/>
              <a:t>Would namespaces alone solve this issue? Why?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55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4489-0E5B-4B77-8445-97DAC13D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94F62-1AD9-DF1D-6F45-B9B02DDF7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 2: A server is running three containers:</a:t>
            </a:r>
          </a:p>
          <a:p>
            <a:r>
              <a:rPr lang="en-US" dirty="0"/>
              <a:t>Container A runs a CPU-intensive task</a:t>
            </a:r>
          </a:p>
          <a:p>
            <a:r>
              <a:rPr lang="en-US" dirty="0"/>
              <a:t>Container B runs a web server</a:t>
            </a:r>
          </a:p>
          <a:p>
            <a:r>
              <a:rPr lang="en-US" dirty="0"/>
              <a:t>Container C runs a database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dirty="0"/>
              <a:t>Which Linux feature prevents Container A from consuming all CPU?</a:t>
            </a:r>
          </a:p>
          <a:p>
            <a:r>
              <a:rPr lang="en-US" dirty="0"/>
              <a:t>Which feature ensures Container B cannot see processes of Container C?</a:t>
            </a:r>
          </a:p>
          <a:p>
            <a:r>
              <a:rPr lang="en-US" dirty="0"/>
              <a:t>Which namespace allows all three containers to use port 80 internally?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104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9B0-94CF-FD87-9C72-35153E38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AB07-8E39-EBA5-84A5-75F82F91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69985"/>
            <a:ext cx="8323200" cy="440117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 container image is:</a:t>
            </a:r>
          </a:p>
          <a:p>
            <a:r>
              <a:rPr lang="en-US" sz="2400" dirty="0"/>
              <a:t>A read-only blueprint</a:t>
            </a:r>
          </a:p>
          <a:p>
            <a:r>
              <a:rPr lang="en-US" sz="2400" dirty="0"/>
              <a:t>Contains: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Base OS (minimal)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Application code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Libraries &amp; dependencies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Runtime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Configuration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Images are immutable – once built, they do not change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122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61D9-769B-EEC5-4E8E-3E7D8CF0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347E1-3F70-BFA9-ED88-A2ADAD68E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python:3.11-slim is the image </a:t>
            </a:r>
          </a:p>
          <a:p>
            <a:pPr marL="0" indent="0">
              <a:buNone/>
            </a:pPr>
            <a:r>
              <a:rPr lang="en-US" dirty="0"/>
              <a:t>This image already includes:</a:t>
            </a:r>
          </a:p>
          <a:p>
            <a:endParaRPr lang="en-US" dirty="0"/>
          </a:p>
          <a:p>
            <a:r>
              <a:rPr lang="en-US" dirty="0"/>
              <a:t>Linux OS</a:t>
            </a:r>
          </a:p>
          <a:p>
            <a:endParaRPr lang="en-US" dirty="0"/>
          </a:p>
          <a:p>
            <a:r>
              <a:rPr lang="en-US" dirty="0"/>
              <a:t>Python 3.11</a:t>
            </a:r>
          </a:p>
          <a:p>
            <a:endParaRPr lang="en-US" dirty="0"/>
          </a:p>
          <a:p>
            <a:r>
              <a:rPr lang="en-US" dirty="0"/>
              <a:t>Standard Python libraries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80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D4B4-142C-2019-3C4A-D25030D4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Layers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096E-ADF2-EDDA-958B-2F2543FC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Each image is built as a stack of layers.</a:t>
            </a:r>
          </a:p>
          <a:p>
            <a:pPr marL="0" indent="0">
              <a:buNone/>
            </a:pPr>
            <a:r>
              <a:rPr lang="en-US" sz="2800" dirty="0"/>
              <a:t>        Characteristics of Layers</a:t>
            </a:r>
          </a:p>
          <a:p>
            <a:r>
              <a:rPr lang="en-US" sz="2800" dirty="0"/>
              <a:t>Each instruction in a </a:t>
            </a:r>
            <a:r>
              <a:rPr lang="en-US" sz="2800" dirty="0" err="1"/>
              <a:t>Dockerfile</a:t>
            </a:r>
            <a:r>
              <a:rPr lang="en-US" sz="2800" dirty="0"/>
              <a:t> = one layer</a:t>
            </a:r>
          </a:p>
          <a:p>
            <a:r>
              <a:rPr lang="en-US" sz="2800" dirty="0"/>
              <a:t>Layers are: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Immutable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Cached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Reused across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329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475E-3833-392F-ED03-FD6C0DDE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35323-4B2E-EA60-9F59-48EF4C6E8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6608" y="1400537"/>
            <a:ext cx="6748040" cy="46067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5574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7F3-0F38-1D0E-2682-748A3C29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Layered Images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FD75B-3B5D-76A5-D3F4-D89ED1CE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00537"/>
            <a:ext cx="8323200" cy="447061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Faster Builds</a:t>
            </a:r>
          </a:p>
          <a:p>
            <a:r>
              <a:rPr lang="en-US" sz="2800" dirty="0"/>
              <a:t>Docker reuses unchanged layers (cache)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Smaller Storage</a:t>
            </a:r>
          </a:p>
          <a:p>
            <a:r>
              <a:rPr lang="en-US" sz="2800" dirty="0"/>
              <a:t>Same layers shared between images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Faster Deployment</a:t>
            </a:r>
          </a:p>
          <a:p>
            <a:r>
              <a:rPr lang="en-US" sz="2800" dirty="0"/>
              <a:t>Only missing layers are downloaded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731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E1A67-54AB-C04A-4E9E-0099129DA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86137" y="1354238"/>
            <a:ext cx="7419371" cy="459514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192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1B07-C26D-2173-D8D4-908264CF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81" y="326389"/>
            <a:ext cx="5020623" cy="660456"/>
          </a:xfrm>
        </p:spPr>
        <p:txBody>
          <a:bodyPr/>
          <a:lstStyle/>
          <a:p>
            <a:r>
              <a:rPr lang="en-US" dirty="0"/>
              <a:t>Image Registry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77B4-5229-6DB3-56A5-CE21BDC7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60" y="1377387"/>
            <a:ext cx="8485920" cy="44937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image registry is a centralized repository used to store, manage, version, and distribute container images.</a:t>
            </a:r>
          </a:p>
          <a:p>
            <a:pPr marL="0" indent="0">
              <a:buNone/>
            </a:pPr>
            <a:r>
              <a:rPr lang="en-US" dirty="0"/>
              <a:t>It enables:</a:t>
            </a:r>
          </a:p>
          <a:p>
            <a:r>
              <a:rPr lang="en-US" dirty="0"/>
              <a:t>Sharing images across teams and environments</a:t>
            </a:r>
          </a:p>
          <a:p>
            <a:r>
              <a:rPr lang="en-US" dirty="0"/>
              <a:t>Consistent deployment in development, testing, and production</a:t>
            </a:r>
          </a:p>
          <a:p>
            <a:r>
              <a:rPr lang="en-US" dirty="0"/>
              <a:t>Integration with CI/CD pipelines</a:t>
            </a:r>
          </a:p>
          <a:p>
            <a:pPr marL="0" indent="0">
              <a:buNone/>
            </a:pPr>
            <a:r>
              <a:rPr lang="en-US" dirty="0"/>
              <a:t> In DevOps, an image registry plays the same role as:</a:t>
            </a:r>
          </a:p>
          <a:p>
            <a:r>
              <a:rPr lang="en-US" dirty="0"/>
              <a:t>GitHub → for source code</a:t>
            </a:r>
          </a:p>
          <a:p>
            <a:r>
              <a:rPr lang="en-US" dirty="0"/>
              <a:t>Maven Central → for Java libraries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532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6DFE-F2BB-6949-A67F-E933590E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Image Registries are Required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D65E-3F9C-8C8E-8748-285BB2CF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93134"/>
            <a:ext cx="8323200" cy="437802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Without a registry:</a:t>
            </a:r>
          </a:p>
          <a:p>
            <a:r>
              <a:rPr lang="en-US" dirty="0"/>
              <a:t>Each system must build images independently</a:t>
            </a:r>
          </a:p>
          <a:p>
            <a:r>
              <a:rPr lang="en-US" dirty="0"/>
              <a:t>High inconsistency across environments</a:t>
            </a:r>
          </a:p>
          <a:p>
            <a:r>
              <a:rPr lang="en-US" dirty="0"/>
              <a:t>Manual software installation</a:t>
            </a:r>
          </a:p>
          <a:p>
            <a:r>
              <a:rPr lang="en-US" dirty="0"/>
              <a:t>No version control of application environments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FF0000"/>
                </a:solidFill>
              </a:rPr>
              <a:t>With a registry:</a:t>
            </a:r>
          </a:p>
          <a:p>
            <a:r>
              <a:rPr lang="en-US" dirty="0"/>
              <a:t>Build once, deploy everywhere</a:t>
            </a:r>
          </a:p>
          <a:p>
            <a:r>
              <a:rPr lang="en-US" dirty="0"/>
              <a:t>Faster deployments</a:t>
            </a:r>
          </a:p>
          <a:p>
            <a:r>
              <a:rPr lang="en-US" dirty="0"/>
              <a:t>Version-controlled environments</a:t>
            </a:r>
          </a:p>
          <a:p>
            <a:r>
              <a:rPr lang="en-US" dirty="0"/>
              <a:t>Rollback capability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432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6303-DDD4-78EB-93D8-F2E52BCA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Image Registries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6800A-EEA1-97AC-A0AD-D66657C11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3.1 Public Image Registries</a:t>
            </a:r>
          </a:p>
          <a:p>
            <a:pPr marL="0" indent="0">
              <a:buNone/>
            </a:pPr>
            <a:r>
              <a:rPr lang="en-US" dirty="0"/>
              <a:t>Public registries allow open access to images.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Characteristics:</a:t>
            </a:r>
          </a:p>
          <a:p>
            <a:r>
              <a:rPr lang="en-US" dirty="0"/>
              <a:t>Images are publicly visible</a:t>
            </a:r>
          </a:p>
          <a:p>
            <a:r>
              <a:rPr lang="en-US" dirty="0"/>
              <a:t>Anyone can pull images</a:t>
            </a:r>
          </a:p>
          <a:p>
            <a:r>
              <a:rPr lang="en-US" dirty="0"/>
              <a:t>Often free</a:t>
            </a:r>
          </a:p>
          <a:p>
            <a:r>
              <a:rPr lang="en-US" dirty="0"/>
              <a:t>Used for base images and open-source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337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16F6-E301-4BEC-8975-8EA33F9D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Image Registries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7DCE-CC44-CCD5-0E3D-7FE92750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60" y="1377386"/>
            <a:ext cx="8485920" cy="48845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Private registries restrict access using authentication and authorization.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2400" dirty="0">
                <a:solidFill>
                  <a:srgbClr val="FF0000"/>
                </a:solidFill>
              </a:rPr>
              <a:t>Characteristics:</a:t>
            </a:r>
          </a:p>
          <a:p>
            <a:r>
              <a:rPr lang="en-US" dirty="0"/>
              <a:t>Secure and controlled access</a:t>
            </a:r>
          </a:p>
          <a:p>
            <a:r>
              <a:rPr lang="en-US" dirty="0"/>
              <a:t>Used in enterprises</a:t>
            </a:r>
          </a:p>
          <a:p>
            <a:r>
              <a:rPr lang="en-US" dirty="0"/>
              <a:t>Stores proprietary applications</a:t>
            </a:r>
          </a:p>
          <a:p>
            <a:r>
              <a:rPr lang="en-US" dirty="0"/>
              <a:t>Integrated with IAM and RBAC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sz="2400" dirty="0">
                <a:solidFill>
                  <a:srgbClr val="FF0000"/>
                </a:solidFill>
              </a:rPr>
              <a:t>Examples:</a:t>
            </a:r>
          </a:p>
          <a:p>
            <a:r>
              <a:rPr lang="en-US" dirty="0"/>
              <a:t>AWS Elastic Container Registry (ECR)</a:t>
            </a:r>
          </a:p>
          <a:p>
            <a:r>
              <a:rPr lang="en-US" dirty="0"/>
              <a:t>Azure Container Registry (ACR)</a:t>
            </a:r>
          </a:p>
          <a:p>
            <a:r>
              <a:rPr lang="en-US" dirty="0"/>
              <a:t>GitHub Container Registry (GHCR)</a:t>
            </a:r>
          </a:p>
          <a:p>
            <a:r>
              <a:rPr lang="en-US" dirty="0"/>
              <a:t>On-premise private registry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25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A308-BA2E-7A54-AFF5-13A4BCBC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0AFB3-D71E-FEC6-2BA1-53A43EA75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Images follow a standard naming</a:t>
            </a:r>
          </a:p>
          <a:p>
            <a:pPr marL="0" indent="0">
              <a:buNone/>
            </a:pPr>
            <a:r>
              <a:rPr lang="en-IN" dirty="0"/>
              <a:t> format:&lt;registry&gt;/&lt;namespace&gt;/&lt;image&gt;:&lt;tag&gt;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Example:docker.io</a:t>
            </a:r>
            <a:r>
              <a:rPr lang="en-IN" dirty="0"/>
              <a:t>/</a:t>
            </a:r>
            <a:r>
              <a:rPr lang="en-IN" dirty="0" err="1"/>
              <a:t>manpreet</a:t>
            </a:r>
            <a:r>
              <a:rPr lang="en-IN" dirty="0"/>
              <a:t>/webapp:v1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06EC5-6AE3-655E-E4A3-A97A9821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0" y="3564701"/>
            <a:ext cx="7770404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62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4482-2FC1-3C9B-9FE4-96772F67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81" y="671331"/>
            <a:ext cx="8485920" cy="520947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Tags and Versioning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DF627-0DA3-FFF7-BEF6-4401C463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Tags identify different versions of the same image.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D6B23-BABE-9CDB-952D-159AA3C8D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0" y="2118167"/>
            <a:ext cx="7724105" cy="303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05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CEFC-4088-E82B-CA71-F597ECDC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Distribution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C9C1-BF5B-F216-8FCD-69E2BD24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Image distribution refers to how images move from developers to production systems.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Distribution Flow:</a:t>
            </a:r>
          </a:p>
          <a:p>
            <a:r>
              <a:rPr lang="en-US" dirty="0"/>
              <a:t>Developer builds an image locally</a:t>
            </a:r>
          </a:p>
          <a:p>
            <a:r>
              <a:rPr lang="en-US" dirty="0"/>
              <a:t>Image is pushed to a registry</a:t>
            </a:r>
          </a:p>
          <a:p>
            <a:r>
              <a:rPr lang="en-US" dirty="0"/>
              <a:t>Registry stores the image securely</a:t>
            </a:r>
          </a:p>
          <a:p>
            <a:r>
              <a:rPr lang="en-US" dirty="0"/>
              <a:t>Servers pull the image when required</a:t>
            </a:r>
          </a:p>
          <a:p>
            <a:r>
              <a:rPr lang="en-US" dirty="0"/>
              <a:t>Containers are created from the image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868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B192-1C32-326C-E618-A303A979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and Pull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9492-D624-C721-C793-E349ECD4F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339702"/>
            <a:ext cx="8323200" cy="476338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Push Operation</a:t>
            </a:r>
          </a:p>
          <a:p>
            <a:r>
              <a:rPr lang="en-US" dirty="0"/>
              <a:t>Uploads image layers from local system to registry</a:t>
            </a:r>
          </a:p>
          <a:p>
            <a:r>
              <a:rPr lang="en-US" dirty="0"/>
              <a:t>Requires authentication</a:t>
            </a:r>
          </a:p>
          <a:p>
            <a:r>
              <a:rPr lang="en-US" dirty="0"/>
              <a:t>Only new layers are pushed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Pull Operation</a:t>
            </a:r>
          </a:p>
          <a:p>
            <a:r>
              <a:rPr lang="en-US" dirty="0"/>
              <a:t>Downloads image layers from registry</a:t>
            </a:r>
          </a:p>
          <a:p>
            <a:r>
              <a:rPr lang="en-US" dirty="0"/>
              <a:t>Uses caching to avoid re-downloading existing layers</a:t>
            </a:r>
          </a:p>
          <a:p>
            <a:r>
              <a:rPr lang="en-US" dirty="0"/>
              <a:t>Faster on repeated deployments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2311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935E-2EE3-DB42-37F5-7259CBF3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Image Registries in CI/CD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7F23-6D1C-FDF6-2E38-57F816E5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modern DevOps pipelines: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Code is committed to Git</a:t>
            </a:r>
          </a:p>
          <a:p>
            <a:r>
              <a:rPr lang="en-US" dirty="0"/>
              <a:t>CI system builds the container image</a:t>
            </a:r>
          </a:p>
          <a:p>
            <a:r>
              <a:rPr lang="en-US" dirty="0"/>
              <a:t>Image is pushed to registry</a:t>
            </a:r>
          </a:p>
          <a:p>
            <a:r>
              <a:rPr lang="en-US" dirty="0"/>
              <a:t>CD system pulls the image</a:t>
            </a:r>
          </a:p>
          <a:p>
            <a:r>
              <a:rPr lang="en-US" dirty="0"/>
              <a:t>Application is deployed automatically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In Actual, Registry acts as the bridge between CI and CD.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721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B0C5-A774-A4AE-0F01-FFB27FF9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Public and Private Registry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7BC3D-3F95-36D4-5E3B-3B4A4034D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9195" y="1464155"/>
            <a:ext cx="7877175" cy="403287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45154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D0F5-7716-7724-F8C7-5D6EDD35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AAF3-FD54-3ECA-F107-0E5C7336E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1.What is the primary purpose of an image registry?</a:t>
            </a:r>
          </a:p>
          <a:p>
            <a:pPr marL="0" indent="0">
              <a:buNone/>
            </a:pPr>
            <a:r>
              <a:rPr lang="en-US" dirty="0"/>
              <a:t>A. To execute containers</a:t>
            </a:r>
            <a:br>
              <a:rPr lang="en-US" dirty="0"/>
            </a:br>
            <a:r>
              <a:rPr lang="en-US" dirty="0"/>
              <a:t>B. To store and distribute container images</a:t>
            </a:r>
            <a:br>
              <a:rPr lang="en-US" dirty="0"/>
            </a:br>
            <a:r>
              <a:rPr lang="en-US" dirty="0"/>
              <a:t>C. To build container images</a:t>
            </a:r>
            <a:br>
              <a:rPr lang="en-US" dirty="0"/>
            </a:br>
            <a:r>
              <a:rPr lang="en-US" dirty="0"/>
              <a:t>D. To monitor container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Which component of an image name represents the version of the image?</a:t>
            </a:r>
          </a:p>
          <a:p>
            <a:pPr marL="0" indent="0">
              <a:buNone/>
            </a:pPr>
            <a:r>
              <a:rPr lang="en-US" dirty="0"/>
              <a:t>A. Registry</a:t>
            </a:r>
            <a:br>
              <a:rPr lang="en-US" dirty="0"/>
            </a:br>
            <a:r>
              <a:rPr lang="en-US" dirty="0"/>
              <a:t>B. Namespace</a:t>
            </a:r>
            <a:br>
              <a:rPr lang="en-US" dirty="0"/>
            </a:br>
            <a:r>
              <a:rPr lang="en-US" dirty="0"/>
              <a:t>C. Image name</a:t>
            </a:r>
            <a:br>
              <a:rPr lang="en-US" dirty="0"/>
            </a:br>
            <a:r>
              <a:rPr lang="en-US" dirty="0"/>
              <a:t>D. Tag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31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2C33-729E-915D-244F-FF22CCDB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21BF-24FC-5516-C4B5-B182073E6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Which type of image registry is typically used in enterprise environments?</a:t>
            </a:r>
          </a:p>
          <a:p>
            <a:pPr marL="0" indent="0">
              <a:buNone/>
            </a:pPr>
            <a:r>
              <a:rPr lang="en-US" dirty="0" err="1"/>
              <a:t>A.Public</a:t>
            </a:r>
            <a:r>
              <a:rPr lang="en-US" dirty="0"/>
              <a:t> registry</a:t>
            </a:r>
            <a:br>
              <a:rPr lang="en-US" dirty="0"/>
            </a:br>
            <a:r>
              <a:rPr lang="en-US" dirty="0"/>
              <a:t>B. Open registry</a:t>
            </a:r>
            <a:br>
              <a:rPr lang="en-US" dirty="0"/>
            </a:br>
            <a:r>
              <a:rPr lang="en-US" dirty="0"/>
              <a:t>C. Private registry</a:t>
            </a:r>
            <a:br>
              <a:rPr lang="en-US" dirty="0"/>
            </a:br>
            <a:r>
              <a:rPr lang="en-US" dirty="0"/>
              <a:t>D. Anonymous registry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US" dirty="0"/>
              <a:t>In CI/CD pipelines, the image registry mainly acts as:</a:t>
            </a:r>
          </a:p>
          <a:p>
            <a:pPr marL="0" indent="0">
              <a:buNone/>
            </a:pPr>
            <a:r>
              <a:rPr lang="en-US" dirty="0"/>
              <a:t>A. Source code repository</a:t>
            </a:r>
            <a:br>
              <a:rPr lang="en-US" dirty="0"/>
            </a:br>
            <a:r>
              <a:rPr lang="en-US" dirty="0"/>
              <a:t>B. Testing environment</a:t>
            </a:r>
            <a:br>
              <a:rPr lang="en-US" dirty="0"/>
            </a:br>
            <a:r>
              <a:rPr lang="en-US" dirty="0"/>
              <a:t>C. Bridge between CI and CD</a:t>
            </a:r>
            <a:br>
              <a:rPr lang="en-US" dirty="0"/>
            </a:br>
            <a:r>
              <a:rPr lang="en-US" dirty="0"/>
              <a:t>D. Container runtime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399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Docker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Centralized repository for Docker images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 Features:</a:t>
            </a:r>
          </a:p>
          <a:p>
            <a:r>
              <a:rPr dirty="0"/>
              <a:t> Public and private repositories</a:t>
            </a:r>
          </a:p>
          <a:p>
            <a:r>
              <a:rPr dirty="0"/>
              <a:t> Official images</a:t>
            </a:r>
          </a:p>
          <a:p>
            <a:r>
              <a:rPr dirty="0"/>
              <a:t> Automated builds</a:t>
            </a:r>
          </a:p>
          <a:p>
            <a:r>
              <a:rPr dirty="0"/>
              <a:t> Importance in DevOps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Components:</a:t>
            </a:r>
          </a:p>
          <a:p>
            <a:r>
              <a:rPr dirty="0"/>
              <a:t>  - Docker Client</a:t>
            </a:r>
          </a:p>
          <a:p>
            <a:r>
              <a:rPr dirty="0"/>
              <a:t>  - Docker Daemon</a:t>
            </a:r>
          </a:p>
          <a:p>
            <a:r>
              <a:rPr dirty="0"/>
              <a:t>  - Docker Images</a:t>
            </a:r>
          </a:p>
          <a:p>
            <a:r>
              <a:rPr dirty="0"/>
              <a:t>  - Containers</a:t>
            </a:r>
          </a:p>
          <a:p>
            <a:r>
              <a:rPr dirty="0"/>
              <a:t>  - Docker Registry (Docker Hub)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557E-AD67-3BC3-EA46-90467850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9A38A-A6D3-F9EE-7602-384011B6B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1600" y="1192280"/>
            <a:ext cx="8711201" cy="5049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5283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Stages:</a:t>
            </a:r>
          </a:p>
          <a:p>
            <a:r>
              <a:rPr dirty="0"/>
              <a:t>  - Build: Create an image</a:t>
            </a:r>
          </a:p>
          <a:p>
            <a:r>
              <a:rPr dirty="0"/>
              <a:t>  - Ship: Share images via Docker Hub</a:t>
            </a:r>
          </a:p>
          <a:p>
            <a:r>
              <a:rPr dirty="0"/>
              <a:t>  - Run: Start containers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dirty="0"/>
              <a:t> Container states:</a:t>
            </a:r>
          </a:p>
          <a:p>
            <a:r>
              <a:rPr dirty="0"/>
              <a:t>  - Created</a:t>
            </a:r>
          </a:p>
          <a:p>
            <a:r>
              <a:rPr dirty="0"/>
              <a:t>  - Running</a:t>
            </a:r>
          </a:p>
          <a:p>
            <a:r>
              <a:rPr dirty="0"/>
              <a:t>  - Paused</a:t>
            </a:r>
          </a:p>
          <a:p>
            <a:r>
              <a:rPr dirty="0"/>
              <a:t>  - Stopped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3786F-E2DE-CC2B-197E-D4486125C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192280"/>
            <a:ext cx="8941981" cy="50596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29646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0FD6-1B4D-335A-402B-EAC14A0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Start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594A11-38F2-9712-04FA-C1B4AC096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881" y="1453806"/>
            <a:ext cx="799930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pull ubuntu → Downloads the Ubuntu image from Docker 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images → Lists all downloaded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run ubuntu → Creates and runs a container from the Ubuntu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run -it ubuntu /bin/bash → Runs Ubuntu with terminal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stop 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→ Stops a running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rm 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→ Removes a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ubuntu → Deletes the Ubuntu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system prune -a → Cleans unused containers, images, and networks</a:t>
            </a:r>
          </a:p>
          <a:p>
            <a:pPr marL="0" lvl="0" indent="0" defTabSz="914400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system prune -a –volumes →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Clean</a:t>
            </a:r>
            <a:endParaRPr lang="en-US" alt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455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40ED-A4B0-E01A-B925-CF12E4CD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8E77-26F5-39ED-F678-ACB19B3F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pull nginx</a:t>
            </a:r>
          </a:p>
          <a:p>
            <a:r>
              <a:rPr lang="en-IN" dirty="0"/>
              <a:t>docker run -d -p 8080:80 --name </a:t>
            </a:r>
            <a:r>
              <a:rPr lang="en-IN" dirty="0" err="1"/>
              <a:t>mynginx</a:t>
            </a:r>
            <a:r>
              <a:rPr lang="en-IN" dirty="0"/>
              <a:t> nginx</a:t>
            </a:r>
          </a:p>
          <a:p>
            <a:r>
              <a:rPr lang="en-IN" dirty="0"/>
              <a:t>docker </a:t>
            </a:r>
            <a:r>
              <a:rPr lang="en-IN" dirty="0" err="1"/>
              <a:t>ps</a:t>
            </a:r>
            <a:endParaRPr lang="en-IN" dirty="0"/>
          </a:p>
          <a:p>
            <a:r>
              <a:rPr lang="en-IN" dirty="0"/>
              <a:t>docker stop </a:t>
            </a:r>
            <a:r>
              <a:rPr lang="en-IN" dirty="0" err="1"/>
              <a:t>mynginx</a:t>
            </a:r>
            <a:endParaRPr lang="en-IN" dirty="0"/>
          </a:p>
          <a:p>
            <a:r>
              <a:rPr lang="en-IN" dirty="0"/>
              <a:t>docker start </a:t>
            </a:r>
            <a:r>
              <a:rPr lang="en-IN" dirty="0" err="1"/>
              <a:t>mynginx</a:t>
            </a:r>
            <a:endParaRPr lang="en-IN" dirty="0"/>
          </a:p>
          <a:p>
            <a:r>
              <a:rPr lang="en-IN" dirty="0"/>
              <a:t>docker rm -f </a:t>
            </a:r>
            <a:r>
              <a:rPr lang="en-IN" dirty="0" err="1"/>
              <a:t>mynginx</a:t>
            </a:r>
            <a:endParaRPr lang="en-IN" dirty="0"/>
          </a:p>
          <a:p>
            <a:r>
              <a:rPr lang="en-IN" dirty="0"/>
              <a:t>docker </a:t>
            </a:r>
            <a:r>
              <a:rPr lang="en-IN" dirty="0" err="1"/>
              <a:t>rmi</a:t>
            </a:r>
            <a:r>
              <a:rPr lang="en-IN" dirty="0"/>
              <a:t> nginx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1729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632E-8737-1CE4-C378-51751232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Interaction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B74E-E63D-6D43-1CCF-1A4F39E74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exec -it &lt;</a:t>
            </a:r>
            <a:r>
              <a:rPr lang="en-US" dirty="0" err="1"/>
              <a:t>container_id</a:t>
            </a:r>
            <a:r>
              <a:rPr lang="en-US" dirty="0"/>
              <a:t>&gt; bash -Opens terminal inside a running container.</a:t>
            </a:r>
          </a:p>
          <a:p>
            <a:r>
              <a:rPr lang="en-US" dirty="0"/>
              <a:t>docker logs &lt;</a:t>
            </a:r>
            <a:r>
              <a:rPr lang="en-US" dirty="0" err="1"/>
              <a:t>container_id</a:t>
            </a:r>
            <a:r>
              <a:rPr lang="en-US" dirty="0"/>
              <a:t>&gt;-</a:t>
            </a:r>
            <a:r>
              <a:rPr lang="en-IN" dirty="0"/>
              <a:t>Shows container output logs.</a:t>
            </a:r>
            <a:endParaRPr lang="en-US" dirty="0"/>
          </a:p>
          <a:p>
            <a:r>
              <a:rPr lang="en-US" dirty="0"/>
              <a:t>docker inspect &lt;</a:t>
            </a:r>
            <a:r>
              <a:rPr lang="en-US" dirty="0" err="1"/>
              <a:t>container_id</a:t>
            </a:r>
            <a:r>
              <a:rPr lang="en-US" dirty="0"/>
              <a:t>&gt;- Displays detailed configuration in JSON format.</a:t>
            </a:r>
          </a:p>
          <a:p>
            <a:r>
              <a:rPr lang="en-US" dirty="0"/>
              <a:t>docker stats-Shows live CPU, memory usage of containers.</a:t>
            </a:r>
          </a:p>
          <a:p>
            <a:r>
              <a:rPr lang="en-US" dirty="0"/>
              <a:t>docker top &lt;</a:t>
            </a:r>
            <a:r>
              <a:rPr lang="en-US" dirty="0" err="1"/>
              <a:t>container_id</a:t>
            </a:r>
            <a:r>
              <a:rPr lang="en-US" dirty="0"/>
              <a:t>&gt;</a:t>
            </a:r>
            <a:r>
              <a:rPr lang="en-IN" dirty="0"/>
              <a:t>Displays running processes inside container.</a:t>
            </a:r>
          </a:p>
          <a:p>
            <a:endParaRPr lang="en-IN" dirty="0"/>
          </a:p>
          <a:p>
            <a:r>
              <a:rPr lang="en-US" dirty="0">
                <a:solidFill>
                  <a:srgbClr val="FF0000"/>
                </a:solidFill>
              </a:rPr>
              <a:t>docker run -</a:t>
            </a:r>
            <a:r>
              <a:rPr lang="en-US" dirty="0" err="1">
                <a:solidFill>
                  <a:srgbClr val="FF0000"/>
                </a:solidFill>
              </a:rPr>
              <a:t>dit</a:t>
            </a:r>
            <a:r>
              <a:rPr lang="en-US" dirty="0">
                <a:solidFill>
                  <a:srgbClr val="FF0000"/>
                </a:solidFill>
              </a:rPr>
              <a:t> --name </a:t>
            </a:r>
            <a:r>
              <a:rPr lang="en-US" dirty="0" err="1">
                <a:solidFill>
                  <a:srgbClr val="FF0000"/>
                </a:solidFill>
              </a:rPr>
              <a:t>myubuntu</a:t>
            </a:r>
            <a:r>
              <a:rPr lang="en-US" dirty="0">
                <a:solidFill>
                  <a:srgbClr val="FF0000"/>
                </a:solidFill>
              </a:rPr>
              <a:t> ubuntu</a:t>
            </a:r>
          </a:p>
          <a:p>
            <a:r>
              <a:rPr lang="en-IN" dirty="0"/>
              <a:t>docker start ubuntu</a:t>
            </a:r>
          </a:p>
        </p:txBody>
      </p:sp>
    </p:spTree>
    <p:extLst>
      <p:ext uri="{BB962C8B-B14F-4D97-AF65-F5344CB8AC3E}">
        <p14:creationId xmlns:p14="http://schemas.microsoft.com/office/powerpoint/2010/main" val="31041972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7E33-0461-7738-5789-F5B2015B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Volume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701A-2B99-37FD-FBCC-5CB5A462A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volume create </a:t>
            </a:r>
            <a:r>
              <a:rPr lang="en-IN" dirty="0" err="1"/>
              <a:t>myvolume</a:t>
            </a:r>
            <a:r>
              <a:rPr lang="en-IN" dirty="0"/>
              <a:t>-Creates a persistent storage volume.</a:t>
            </a:r>
          </a:p>
          <a:p>
            <a:r>
              <a:rPr lang="en-IN" dirty="0"/>
              <a:t>docker volume ls-Lists all volumes.</a:t>
            </a:r>
          </a:p>
          <a:p>
            <a:r>
              <a:rPr lang="en-IN" dirty="0"/>
              <a:t>docker volume inspect </a:t>
            </a:r>
            <a:r>
              <a:rPr lang="en-IN" dirty="0" err="1"/>
              <a:t>myvolume</a:t>
            </a:r>
            <a:r>
              <a:rPr lang="en-IN" dirty="0"/>
              <a:t>-Shows volume details.</a:t>
            </a:r>
          </a:p>
          <a:p>
            <a:r>
              <a:rPr lang="en-IN" dirty="0"/>
              <a:t>docker volume rm </a:t>
            </a:r>
            <a:r>
              <a:rPr lang="en-IN" dirty="0" err="1"/>
              <a:t>myvolume</a:t>
            </a:r>
            <a:r>
              <a:rPr lang="en-IN" dirty="0"/>
              <a:t>-Removes a volume.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9422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DA62-EFFC-AE2C-8A84-5716F829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8B69-392C-FF1D-B45C-5D10DC15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network ls-Lists available Docker networks.</a:t>
            </a:r>
          </a:p>
          <a:p>
            <a:r>
              <a:rPr lang="en-IN" dirty="0"/>
              <a:t>docker network create </a:t>
            </a:r>
            <a:r>
              <a:rPr lang="en-IN" dirty="0" err="1"/>
              <a:t>mynetwork</a:t>
            </a:r>
            <a:r>
              <a:rPr lang="en-IN" dirty="0"/>
              <a:t>-Creates a custom network.</a:t>
            </a:r>
          </a:p>
          <a:p>
            <a:r>
              <a:rPr lang="en-IN" dirty="0"/>
              <a:t>docker network inspect </a:t>
            </a:r>
            <a:r>
              <a:rPr lang="en-IN" dirty="0" err="1"/>
              <a:t>mynetwork</a:t>
            </a:r>
            <a:r>
              <a:rPr lang="en-IN" dirty="0"/>
              <a:t>-Shows network details.</a:t>
            </a:r>
          </a:p>
          <a:p>
            <a:r>
              <a:rPr lang="en-IN" dirty="0"/>
              <a:t>docker network rm </a:t>
            </a:r>
            <a:r>
              <a:rPr lang="en-IN" dirty="0" err="1"/>
              <a:t>mynetwork</a:t>
            </a:r>
            <a:r>
              <a:rPr lang="en-IN" dirty="0"/>
              <a:t>-Deletes a network.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088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B8C5-C82B-85F3-0E1A-CE65C4A3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Cleanup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8E6A-C27B-77F5-BA9C-187C30AD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stop $(docker </a:t>
            </a:r>
            <a:r>
              <a:rPr lang="en-IN" dirty="0" err="1"/>
              <a:t>ps</a:t>
            </a:r>
            <a:r>
              <a:rPr lang="en-IN" dirty="0"/>
              <a:t> -</a:t>
            </a:r>
            <a:r>
              <a:rPr lang="en-IN" dirty="0" err="1"/>
              <a:t>aq</a:t>
            </a:r>
            <a:r>
              <a:rPr lang="en-IN" dirty="0"/>
              <a:t>)-Stops all containers.</a:t>
            </a:r>
          </a:p>
          <a:p>
            <a:r>
              <a:rPr lang="en-IN" dirty="0"/>
              <a:t>docker rm $(docker </a:t>
            </a:r>
            <a:r>
              <a:rPr lang="en-IN" dirty="0" err="1"/>
              <a:t>ps</a:t>
            </a:r>
            <a:r>
              <a:rPr lang="en-IN" dirty="0"/>
              <a:t> -</a:t>
            </a:r>
            <a:r>
              <a:rPr lang="en-IN" dirty="0" err="1"/>
              <a:t>aq</a:t>
            </a:r>
            <a:r>
              <a:rPr lang="en-IN" dirty="0"/>
              <a:t>)-Removes all containers.</a:t>
            </a:r>
          </a:p>
          <a:p>
            <a:r>
              <a:rPr lang="en-IN" dirty="0"/>
              <a:t>docker </a:t>
            </a:r>
            <a:r>
              <a:rPr lang="en-IN" dirty="0" err="1"/>
              <a:t>rmi</a:t>
            </a:r>
            <a:r>
              <a:rPr lang="en-IN" dirty="0"/>
              <a:t> $(docker images -q)-Deletes all images.</a:t>
            </a:r>
          </a:p>
          <a:p>
            <a:r>
              <a:rPr lang="en-IN" dirty="0"/>
              <a:t>docker system prune –a-</a:t>
            </a:r>
            <a:r>
              <a:rPr lang="en-US" dirty="0"/>
              <a:t>Cleans unused containers, networks, images.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6811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ED3A-1E06-6A6E-EB0E-A2C4B4B8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F80D-AA49-5E02-B840-7CC63460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student wants to practice Linux commands inside Docker. Run an Ubuntu container in interactive mode using bash and exit safely after execution.</a:t>
            </a:r>
            <a:br>
              <a:rPr lang="en-US" dirty="0"/>
            </a:br>
            <a:r>
              <a:rPr lang="en-US" dirty="0"/>
              <a:t> Write the commands used to create and access the container.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docker run -it ubuntu bash</a:t>
            </a:r>
          </a:p>
          <a:p>
            <a:pPr marL="0" indent="0">
              <a:buNone/>
            </a:pPr>
            <a:r>
              <a:rPr lang="en-US" dirty="0"/>
              <a:t>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3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5F67-ADD6-D71D-2562-17022073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FFC4-F244-854A-9A9F-7ADC91127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to troubleshoot a running container by entering its terminal and checking logs.</a:t>
            </a:r>
            <a:br>
              <a:rPr lang="en-US" dirty="0"/>
            </a:br>
            <a:r>
              <a:rPr lang="en-US" dirty="0"/>
              <a:t>Write commands to:</a:t>
            </a:r>
          </a:p>
          <a:p>
            <a:r>
              <a:rPr lang="en-US" dirty="0"/>
              <a:t>Open bash inside container</a:t>
            </a:r>
          </a:p>
          <a:p>
            <a:r>
              <a:rPr lang="en-US" dirty="0"/>
              <a:t>View logs</a:t>
            </a:r>
          </a:p>
          <a:p>
            <a:r>
              <a:rPr lang="en-US" dirty="0"/>
              <a:t>Show running processes</a:t>
            </a:r>
          </a:p>
          <a:p>
            <a:pPr marL="0" indent="0">
              <a:buNone/>
            </a:pPr>
            <a:r>
              <a:rPr lang="en-US" dirty="0"/>
              <a:t>docker exec -it &lt;</a:t>
            </a:r>
            <a:r>
              <a:rPr lang="en-US" dirty="0" err="1"/>
              <a:t>container_id</a:t>
            </a:r>
            <a:r>
              <a:rPr lang="en-US" dirty="0"/>
              <a:t>&gt; bash</a:t>
            </a:r>
          </a:p>
          <a:p>
            <a:pPr marL="0" indent="0">
              <a:buNone/>
            </a:pPr>
            <a:r>
              <a:rPr lang="en-US" dirty="0"/>
              <a:t>docker logs &lt;</a:t>
            </a:r>
            <a:r>
              <a:rPr lang="en-US" dirty="0" err="1"/>
              <a:t>container_id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docker top &lt;</a:t>
            </a:r>
            <a:r>
              <a:rPr lang="en-US" dirty="0" err="1"/>
              <a:t>container_id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59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EA52-5F7A-DDBB-1CBB-2D654F4D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99AC-71AA-5287-2804-7B934114F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custom Docker network named </a:t>
            </a:r>
            <a:r>
              <a:rPr lang="en-US" dirty="0" err="1"/>
              <a:t>mynetwork</a:t>
            </a:r>
            <a:r>
              <a:rPr lang="en-US" dirty="0"/>
              <a:t> and verify its configuration.</a:t>
            </a:r>
            <a:br>
              <a:rPr lang="en-US" dirty="0"/>
            </a:br>
            <a:r>
              <a:rPr lang="en-US" dirty="0"/>
              <a:t> Write commands to create, list, and inspect the network.</a:t>
            </a:r>
          </a:p>
          <a:p>
            <a:endParaRPr lang="en-US" dirty="0"/>
          </a:p>
          <a:p>
            <a:r>
              <a:rPr lang="en-IN" dirty="0"/>
              <a:t>docker network create </a:t>
            </a:r>
            <a:r>
              <a:rPr lang="en-IN" dirty="0" err="1"/>
              <a:t>mynetwork</a:t>
            </a:r>
            <a:endParaRPr lang="en-IN" dirty="0"/>
          </a:p>
          <a:p>
            <a:r>
              <a:rPr lang="en-IN" dirty="0"/>
              <a:t>docker network ls</a:t>
            </a:r>
          </a:p>
          <a:p>
            <a:r>
              <a:rPr lang="en-IN" dirty="0"/>
              <a:t>docker network inspect </a:t>
            </a:r>
            <a:r>
              <a:rPr lang="en-IN" dirty="0" err="1"/>
              <a:t>mynetwork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61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DB72-A03A-9E98-339C-D2A79191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CEC7-BBD7-D68B-FF8B-C088E2CDC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are a DevOps trainee and need to deploy the Apache HTTP Server (httpd) using Docker for testing a static website. Pull the Apache server image from Docker Hub, create a container named </a:t>
            </a:r>
            <a:r>
              <a:rPr lang="en-US" dirty="0" err="1"/>
              <a:t>apache</a:t>
            </a:r>
            <a:r>
              <a:rPr lang="en-US" dirty="0"/>
              <a:t>-web, and run it in detached mode. Map port 8081 on the host machine to port 80 inside the container so that the website can be accessed through a browser.</a:t>
            </a:r>
          </a:p>
          <a:p>
            <a:pPr marL="0" indent="0">
              <a:buNone/>
            </a:pPr>
            <a:r>
              <a:rPr lang="en-US" dirty="0"/>
              <a:t>Tasks:</a:t>
            </a:r>
          </a:p>
          <a:p>
            <a:r>
              <a:rPr lang="en-US" dirty="0"/>
              <a:t>Pull the Apache (httpd) Docker image.</a:t>
            </a:r>
          </a:p>
          <a:p>
            <a:r>
              <a:rPr lang="en-US" dirty="0"/>
              <a:t>Verify that the image is successfully downloaded.</a:t>
            </a:r>
          </a:p>
          <a:p>
            <a:r>
              <a:rPr lang="en-US" dirty="0"/>
              <a:t>Run the container with the specified name and port mapping.</a:t>
            </a:r>
          </a:p>
          <a:p>
            <a:r>
              <a:rPr lang="en-US" dirty="0"/>
              <a:t>Check the list of running containers.</a:t>
            </a:r>
          </a:p>
          <a:p>
            <a:r>
              <a:rPr lang="en-US" dirty="0"/>
              <a:t>Access the Apache web server using a browser.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16236"/>
      </p:ext>
    </p:extLst>
  </p:cSld>
  <p:clrMapOvr>
    <a:masterClrMapping/>
  </p:clrMapOvr>
</p:sld>
</file>

<file path=ppt/theme/theme1.xml><?xml version="1.0" encoding="utf-8"?>
<a:theme xmlns:a="http://schemas.openxmlformats.org/drawingml/2006/main" name="lpu theme ppt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Source Sans Pro Black"/>
        <a:ea typeface=""/>
        <a:cs typeface="Segoe UI"/>
      </a:majorFont>
      <a:minorFont>
        <a:latin typeface="Source Sans Pro Semibold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lpu theme ppt</Template>
  <TotalTime>3951</TotalTime>
  <Words>2598</Words>
  <Application>Microsoft Office PowerPoint</Application>
  <PresentationFormat>On-screen Show (4:3)</PresentationFormat>
  <Paragraphs>435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Calibri</vt:lpstr>
      <vt:lpstr>Inter</vt:lpstr>
      <vt:lpstr>Source Sans Pro Black</vt:lpstr>
      <vt:lpstr>Source Sans Pro Light</vt:lpstr>
      <vt:lpstr>Source Sans Pro Semibold</vt:lpstr>
      <vt:lpstr>Times New Roman</vt:lpstr>
      <vt:lpstr>Wingdings</vt:lpstr>
      <vt:lpstr>Wingdings 2</vt:lpstr>
      <vt:lpstr>lpu theme ppt</vt:lpstr>
      <vt:lpstr>Introduction to Docker</vt:lpstr>
      <vt:lpstr>Why Devops</vt:lpstr>
      <vt:lpstr>Understanding the concepts of Virtulization and Containerization </vt:lpstr>
      <vt:lpstr>PowerPoint Presentation</vt:lpstr>
      <vt:lpstr>PowerPoint Presentation</vt:lpstr>
      <vt:lpstr>Virtualization  and containerization</vt:lpstr>
      <vt:lpstr>What is Virtualization? </vt:lpstr>
      <vt:lpstr>Advantages of Virtualization</vt:lpstr>
      <vt:lpstr>Drawbacks of Virtualization which lead to concept of containerization </vt:lpstr>
      <vt:lpstr>PowerPoint Presentation</vt:lpstr>
      <vt:lpstr>PowerPoint Presentation</vt:lpstr>
      <vt:lpstr>Need of containers</vt:lpstr>
      <vt:lpstr>Container Runtime</vt:lpstr>
      <vt:lpstr>Need for Container Runtime </vt:lpstr>
      <vt:lpstr>Types of Container Runtimes</vt:lpstr>
      <vt:lpstr>PowerPoint Presentation</vt:lpstr>
      <vt:lpstr>PowerPoint Presentation</vt:lpstr>
      <vt:lpstr>Process Isolation &amp; Namespaces</vt:lpstr>
      <vt:lpstr>PowerPoint Presentation</vt:lpstr>
      <vt:lpstr>Interpretation of Picture</vt:lpstr>
      <vt:lpstr>Namespaces</vt:lpstr>
      <vt:lpstr>Namespaces Used in Containers</vt:lpstr>
      <vt:lpstr>2. Network Namespace </vt:lpstr>
      <vt:lpstr>PowerPoint Presentation</vt:lpstr>
      <vt:lpstr>Real-World Analogy behind Namespaces  </vt:lpstr>
      <vt:lpstr>Control Groups (cgroups) for Resource Limits</vt:lpstr>
      <vt:lpstr>Need of cgroups</vt:lpstr>
      <vt:lpstr>Types of Resources Controlled by cgroups</vt:lpstr>
      <vt:lpstr>Real-World Analogy </vt:lpstr>
      <vt:lpstr>PowerPoint Presentation</vt:lpstr>
      <vt:lpstr>Today’s Task </vt:lpstr>
      <vt:lpstr>PowerPoint Presentation</vt:lpstr>
      <vt:lpstr>Container Image</vt:lpstr>
      <vt:lpstr>Example</vt:lpstr>
      <vt:lpstr>Image Layers </vt:lpstr>
      <vt:lpstr>PowerPoint Presentation</vt:lpstr>
      <vt:lpstr>Benefits of Layered Images </vt:lpstr>
      <vt:lpstr>PowerPoint Presentation</vt:lpstr>
      <vt:lpstr>Image Registry</vt:lpstr>
      <vt:lpstr>Why Image Registries are Required </vt:lpstr>
      <vt:lpstr>Types of Image Registries </vt:lpstr>
      <vt:lpstr>Private Image Registries </vt:lpstr>
      <vt:lpstr>Image Naming Convention</vt:lpstr>
      <vt:lpstr>       . Tags and Versioning</vt:lpstr>
      <vt:lpstr>Image Distribution Process</vt:lpstr>
      <vt:lpstr>Push and Pull Operations</vt:lpstr>
      <vt:lpstr>Role of Image Registries in CI/CD Pipelines</vt:lpstr>
      <vt:lpstr>Comparison Between Public and Private Registry </vt:lpstr>
      <vt:lpstr>QUIZ</vt:lpstr>
      <vt:lpstr>PowerPoint Presentation</vt:lpstr>
      <vt:lpstr>Introduction to Docker Hub</vt:lpstr>
      <vt:lpstr>Docker Architecture</vt:lpstr>
      <vt:lpstr>PowerPoint Presentation</vt:lpstr>
      <vt:lpstr>Docker Life Cycle</vt:lpstr>
      <vt:lpstr>PowerPoint Presentation</vt:lpstr>
      <vt:lpstr>Quick Start</vt:lpstr>
      <vt:lpstr>PowerPoint Presentation</vt:lpstr>
      <vt:lpstr>Container Interaction Commands</vt:lpstr>
      <vt:lpstr>Volume Commands</vt:lpstr>
      <vt:lpstr>Network Commands</vt:lpstr>
      <vt:lpstr>Cleanup Commands</vt:lpstr>
      <vt:lpstr>PowerPoint Presentation</vt:lpstr>
      <vt:lpstr>PowerPoint Presentation</vt:lpstr>
      <vt:lpstr>PowerPoint Presentation</vt:lpstr>
      <vt:lpstr>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Docker</dc:title>
  <dc:subject/>
  <dc:creator>HP</dc:creator>
  <cp:keywords/>
  <dc:description>generated using python-pptx</dc:description>
  <cp:lastModifiedBy>Manpreet Kaur</cp:lastModifiedBy>
  <cp:revision>34</cp:revision>
  <dcterms:created xsi:type="dcterms:W3CDTF">2013-01-27T09:14:16Z</dcterms:created>
  <dcterms:modified xsi:type="dcterms:W3CDTF">2026-03-19T09:23:30Z</dcterms:modified>
  <cp:category/>
</cp:coreProperties>
</file>